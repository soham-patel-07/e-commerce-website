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938" r:id="rId1"/>
  </p:sldMasterIdLst>
  <p:notesMasterIdLst>
    <p:notesMasterId r:id="rId20"/>
  </p:notesMasterIdLst>
  <p:handoutMasterIdLst>
    <p:handoutMasterId r:id="rId21"/>
  </p:handoutMasterIdLst>
  <p:sldIdLst>
    <p:sldId id="256" r:id="rId2"/>
    <p:sldId id="304" r:id="rId3"/>
    <p:sldId id="258" r:id="rId4"/>
    <p:sldId id="289" r:id="rId5"/>
    <p:sldId id="305" r:id="rId6"/>
    <p:sldId id="334" r:id="rId7"/>
    <p:sldId id="333" r:id="rId8"/>
    <p:sldId id="332" r:id="rId9"/>
    <p:sldId id="336" r:id="rId10"/>
    <p:sldId id="337" r:id="rId11"/>
    <p:sldId id="338" r:id="rId12"/>
    <p:sldId id="335" r:id="rId13"/>
    <p:sldId id="341" r:id="rId14"/>
    <p:sldId id="290" r:id="rId15"/>
    <p:sldId id="291" r:id="rId16"/>
    <p:sldId id="268" r:id="rId17"/>
    <p:sldId id="292" r:id="rId18"/>
    <p:sldId id="269"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212F592-E786-4173-B038-37FFA8FD53D2}">
          <p14:sldIdLst>
            <p14:sldId id="256"/>
            <p14:sldId id="304"/>
            <p14:sldId id="258"/>
            <p14:sldId id="289"/>
            <p14:sldId id="305"/>
            <p14:sldId id="334"/>
            <p14:sldId id="333"/>
            <p14:sldId id="332"/>
            <p14:sldId id="336"/>
            <p14:sldId id="337"/>
            <p14:sldId id="338"/>
            <p14:sldId id="335"/>
            <p14:sldId id="341"/>
            <p14:sldId id="290"/>
            <p14:sldId id="291"/>
            <p14:sldId id="268"/>
            <p14:sldId id="292"/>
            <p14:sldId id="26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A7DA"/>
    <a:srgbClr val="E5EBF7"/>
    <a:srgbClr val="E7CDCD"/>
    <a:srgbClr val="C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68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latin typeface="Times New Roman" panose="02020603050405020304" charset="0"/>
                <a:ea typeface="Times New Roman" panose="02020603050405020304" charset="0"/>
                <a:cs typeface="Times New Roman" panose="02020603050405020304" charset="0"/>
                <a:sym typeface="Times New Roman" panose="02020603050405020304" charset="0"/>
              </a:rPr>
              <a:t>9/30/2022</a:t>
            </a:fld>
            <a:endParaRPr lang="en-US">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latin typeface="Times New Roman" panose="02020603050405020304" charset="0"/>
                <a:ea typeface="Times New Roman" panose="02020603050405020304" charset="0"/>
                <a:cs typeface="Times New Roman" panose="02020603050405020304" charset="0"/>
                <a:sym typeface="Times New Roman" panose="02020603050405020304" charset="0"/>
              </a:rPr>
              <a:t>‹#›</a:t>
            </a:fld>
            <a:endParaRPr lang="en-US">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10ee87139c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10ee87139c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10ee87139c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10ee87139c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10ee87139c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10ee87139c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10ee87139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10ee87139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10ee87139c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10ee87139c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10ee87139c_1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10ee87139c_1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10ee87139c_1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10ee87139c_1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10ee87139c_1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10ee87139c_1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0ee87139c_1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10ee87139c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6C131-D7A9-D9E5-FE05-FF88CF2CA50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E51C3ED-FB06-E7E1-79FA-7806796EF237}"/>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6638DA-31CF-DD92-BB1F-F5D3D69A983D}"/>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5" name="Footer Placeholder 4">
            <a:extLst>
              <a:ext uri="{FF2B5EF4-FFF2-40B4-BE49-F238E27FC236}">
                <a16:creationId xmlns:a16="http://schemas.microsoft.com/office/drawing/2014/main" id="{D8ADF696-5B69-3AAB-99DF-539A4EC206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022B15-B7CC-72E8-E7F8-03F0C138A16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316335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1FEDC-6EAC-956E-61B9-AB100F03FF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A7D7E0-0B16-0D0F-57D5-987F6B62BE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515E9-7F5E-8A7B-5670-7FC3A591B19E}"/>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5" name="Footer Placeholder 4">
            <a:extLst>
              <a:ext uri="{FF2B5EF4-FFF2-40B4-BE49-F238E27FC236}">
                <a16:creationId xmlns:a16="http://schemas.microsoft.com/office/drawing/2014/main" id="{44E79E98-1AAE-7FB1-F9B9-D0051D342F8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46F1712-8B69-E92A-1E92-3C69D7B64A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2003139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8FB5-A0FF-2840-696F-F5AC40ADB94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6079DC-1D2C-01F9-A31B-A84AF3DC4EB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41E9B2-124F-028D-418E-0D37748C0886}"/>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5" name="Footer Placeholder 4">
            <a:extLst>
              <a:ext uri="{FF2B5EF4-FFF2-40B4-BE49-F238E27FC236}">
                <a16:creationId xmlns:a16="http://schemas.microsoft.com/office/drawing/2014/main" id="{B8E25ADA-E52F-F3AA-36F7-8CC3D8523E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D46141-144A-AC0C-13D2-C4EF283AC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921246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647F9-1737-E87F-0B82-9E8865DDEF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C4DC05-02E6-A185-5DD2-6975633D166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B31244-ED08-941D-1BC4-025BB85A77C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7E7B36-9F15-BB1F-7F32-4A0ACB7EA811}"/>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6" name="Footer Placeholder 5">
            <a:extLst>
              <a:ext uri="{FF2B5EF4-FFF2-40B4-BE49-F238E27FC236}">
                <a16:creationId xmlns:a16="http://schemas.microsoft.com/office/drawing/2014/main" id="{940FF23B-A395-43D8-B362-A556D8DA19F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DBBAA2B-1F6C-3D20-1838-20034DCDFB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547523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68E5A-755A-E8E4-19FB-EA0880A1269B}"/>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4C4412-5EE9-E5FE-CE77-9DA1668C1F2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D7E3D69-947D-4A62-7992-789F71B952D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950DC7-BE94-958D-AD7F-31DE5F202B1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D8B9E-F7EF-DC4F-0D3D-4FC18C95C01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9C12ED-7484-245A-771E-9ACEBA0336F6}"/>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8" name="Footer Placeholder 7">
            <a:extLst>
              <a:ext uri="{FF2B5EF4-FFF2-40B4-BE49-F238E27FC236}">
                <a16:creationId xmlns:a16="http://schemas.microsoft.com/office/drawing/2014/main" id="{A6589686-F774-0C2F-A19D-9CF86A060E4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234BD5-D86B-1199-57D0-79CA81678E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383309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2853C-414D-D66F-A76A-6BEC8B79E7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75552B-5F90-4BFE-7A39-7BE021A0959C}"/>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4" name="Footer Placeholder 3">
            <a:extLst>
              <a:ext uri="{FF2B5EF4-FFF2-40B4-BE49-F238E27FC236}">
                <a16:creationId xmlns:a16="http://schemas.microsoft.com/office/drawing/2014/main" id="{8B5C1C8F-8E2F-E641-627B-0A1E51A422B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3E31390-02CD-89D9-106D-097EA468FA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890270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58451C-37B7-AFF1-67D8-70571F800F96}"/>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3" name="Footer Placeholder 2">
            <a:extLst>
              <a:ext uri="{FF2B5EF4-FFF2-40B4-BE49-F238E27FC236}">
                <a16:creationId xmlns:a16="http://schemas.microsoft.com/office/drawing/2014/main" id="{09EAD04A-C9C4-ADB2-4CD5-86630991E41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55BF48-6D90-1A79-F132-F055616C02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5270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D031-2B8B-19FE-8845-D80C62A2529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45E59D-2A74-E0C6-7402-5C69139DB4A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8928DC-9718-5EBC-C9B5-4B56F3D2478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7B4726A-CF20-D599-037F-45B753DDDE2A}"/>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6" name="Footer Placeholder 5">
            <a:extLst>
              <a:ext uri="{FF2B5EF4-FFF2-40B4-BE49-F238E27FC236}">
                <a16:creationId xmlns:a16="http://schemas.microsoft.com/office/drawing/2014/main" id="{FC89EFAC-7882-481B-4137-592DB676B14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220D2A-8171-189F-678D-66791C5D787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025085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D2E2-A785-8281-2FC2-95D528BE758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1C04E5-45AE-911C-D7D6-C0825616ECD7}"/>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D80CE17-5E8C-3B79-D167-6C6EAE8AB5B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D35251D-767D-B314-91A9-DD86F4B41A98}"/>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6" name="Footer Placeholder 5">
            <a:extLst>
              <a:ext uri="{FF2B5EF4-FFF2-40B4-BE49-F238E27FC236}">
                <a16:creationId xmlns:a16="http://schemas.microsoft.com/office/drawing/2014/main" id="{203B50E2-ECB4-C353-4872-AE257D79BA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1B1C85-A633-E270-3E2C-1B13F465EC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6572769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12ED4-4FE9-353A-CC62-7725F37DD4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9FCB4C-3BBC-0676-C9C7-66B49F7597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203CB2-BD41-30AB-7EE8-E10FA4333AB5}"/>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5" name="Footer Placeholder 4">
            <a:extLst>
              <a:ext uri="{FF2B5EF4-FFF2-40B4-BE49-F238E27FC236}">
                <a16:creationId xmlns:a16="http://schemas.microsoft.com/office/drawing/2014/main" id="{41A775EE-D191-A013-9D3A-35AEEE87DF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1524A9-30CF-47FA-34BD-9A607F3A2D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299357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DF8AE9-AC7F-6F50-4B36-E37F584237EF}"/>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26A0C7-4D0C-5667-CAE4-2FA2CC8645DD}"/>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4ACEEE-FB7E-68B6-BAC7-D754A882EC12}"/>
              </a:ext>
            </a:extLst>
          </p:cNvPr>
          <p:cNvSpPr>
            <a:spLocks noGrp="1"/>
          </p:cNvSpPr>
          <p:nvPr>
            <p:ph type="dt" sz="half" idx="10"/>
          </p:nvPr>
        </p:nvSpPr>
        <p:spPr/>
        <p:txBody>
          <a:bodyPr/>
          <a:lstStyle/>
          <a:p>
            <a:fld id="{48A87A34-81AB-432B-8DAE-1953F412C126}" type="datetimeFigureOut">
              <a:rPr lang="en-US" smtClean="0"/>
              <a:t>9/30/2022</a:t>
            </a:fld>
            <a:endParaRPr lang="en-US" dirty="0"/>
          </a:p>
        </p:txBody>
      </p:sp>
      <p:sp>
        <p:nvSpPr>
          <p:cNvPr id="5" name="Footer Placeholder 4">
            <a:extLst>
              <a:ext uri="{FF2B5EF4-FFF2-40B4-BE49-F238E27FC236}">
                <a16:creationId xmlns:a16="http://schemas.microsoft.com/office/drawing/2014/main" id="{7CDA4A87-453C-C512-22E9-566972CC42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1C168B-5A79-2FDE-0416-2ED49B95F5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2647022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extLst>
      <p:ext uri="{BB962C8B-B14F-4D97-AF65-F5344CB8AC3E}">
        <p14:creationId xmlns:p14="http://schemas.microsoft.com/office/powerpoint/2010/main" val="340398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B8BA05-81D8-D87D-E0C0-D60198B641A3}"/>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5CCEA9-71A0-AE4D-3AB2-AD47D34892B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C69D09-8863-6EB0-98F5-E8903BE7D91D}"/>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9/30/2022</a:t>
            </a:fld>
            <a:endParaRPr lang="en-US" dirty="0"/>
          </a:p>
        </p:txBody>
      </p:sp>
      <p:sp>
        <p:nvSpPr>
          <p:cNvPr id="5" name="Footer Placeholder 4">
            <a:extLst>
              <a:ext uri="{FF2B5EF4-FFF2-40B4-BE49-F238E27FC236}">
                <a16:creationId xmlns:a16="http://schemas.microsoft.com/office/drawing/2014/main" id="{ECD3BE9E-0F37-8A35-877D-CB514B03BBCE}"/>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D48D57C-AF79-B0A3-688D-C21BEA1CBFC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13249293"/>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53"/>
        <p:cNvGrpSpPr/>
        <p:nvPr/>
      </p:nvGrpSpPr>
      <p:grpSpPr>
        <a:xfrm>
          <a:off x="0" y="0"/>
          <a:ext cx="0" cy="0"/>
          <a:chOff x="0" y="0"/>
          <a:chExt cx="0" cy="0"/>
        </a:xfrm>
      </p:grpSpPr>
      <p:sp>
        <p:nvSpPr>
          <p:cNvPr id="82" name="Google Shape;82;p15"/>
          <p:cNvSpPr txBox="1">
            <a:spLocks noGrp="1"/>
          </p:cNvSpPr>
          <p:nvPr>
            <p:ph type="ctrTitle"/>
          </p:nvPr>
        </p:nvSpPr>
        <p:spPr>
          <a:xfrm>
            <a:off x="311625" y="1767215"/>
            <a:ext cx="8286300" cy="100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Bhagwan Arihant Institute </a:t>
            </a:r>
            <a:br>
              <a:rPr lang="en-US" altLang="en-GB" sz="2800" b="1" dirty="0">
                <a:solidFill>
                  <a:srgbClr val="003046"/>
                </a:solidFill>
                <a:latin typeface="Times New Roman" panose="02020603050405020304" pitchFamily="18" charset="0"/>
                <a:cs typeface="Times New Roman" panose="02020603050405020304" pitchFamily="18" charset="0"/>
              </a:rPr>
            </a:br>
            <a:r>
              <a:rPr lang="en-US" altLang="en-GB" sz="2800" b="1" dirty="0">
                <a:solidFill>
                  <a:srgbClr val="003046"/>
                </a:solidFill>
                <a:latin typeface="Times New Roman" panose="02020603050405020304" pitchFamily="18" charset="0"/>
                <a:cs typeface="Times New Roman" panose="02020603050405020304" pitchFamily="18" charset="0"/>
              </a:rPr>
              <a:t>of Technology  </a:t>
            </a:r>
          </a:p>
        </p:txBody>
      </p:sp>
      <p:sp>
        <p:nvSpPr>
          <p:cNvPr id="55" name="Google Shape;55;p13"/>
          <p:cNvSpPr txBox="1">
            <a:spLocks noGrp="1"/>
          </p:cNvSpPr>
          <p:nvPr>
            <p:ph type="subTitle" idx="1"/>
          </p:nvPr>
        </p:nvSpPr>
        <p:spPr>
          <a:xfrm>
            <a:off x="557284" y="3949098"/>
            <a:ext cx="3026251" cy="64061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1600" dirty="0">
                <a:latin typeface="Times New Roman" panose="02020603050405020304" pitchFamily="18" charset="0"/>
                <a:cs typeface="Times New Roman" panose="02020603050405020304" pitchFamily="18" charset="0"/>
              </a:rPr>
              <a:t>Internal Guide:- Dharmesh Purani</a:t>
            </a:r>
          </a:p>
          <a:p>
            <a:pPr marL="0" lvl="0" indent="0" algn="ctr" rtl="0">
              <a:spcBef>
                <a:spcPts val="0"/>
              </a:spcBef>
              <a:spcAft>
                <a:spcPts val="0"/>
              </a:spcAft>
              <a:buNone/>
            </a:pPr>
            <a:r>
              <a:rPr lang="en-US" altLang="en-GB" sz="1600" dirty="0">
                <a:latin typeface="Times New Roman" panose="02020603050405020304" pitchFamily="18" charset="0"/>
                <a:cs typeface="Times New Roman" panose="02020603050405020304" pitchFamily="18" charset="0"/>
              </a:rPr>
              <a:t>External Guide:-</a:t>
            </a:r>
            <a:r>
              <a:rPr lang="en-GB" altLang="en-GB"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Gaurav Patel </a:t>
            </a:r>
            <a:endParaRPr lang="en-GB" sz="1600" dirty="0">
              <a:latin typeface="Times New Roman" panose="02020603050405020304" pitchFamily="18" charset="0"/>
              <a:cs typeface="Times New Roman" panose="02020603050405020304" pitchFamily="18" charset="0"/>
            </a:endParaRPr>
          </a:p>
        </p:txBody>
      </p:sp>
      <p:sp>
        <p:nvSpPr>
          <p:cNvPr id="56" name="Google Shape;56;p13"/>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57" name="Google Shape;57;p13"/>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58" name="Google Shape;58;p13"/>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59" name="Google Shape;59;p13"/>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2097152" name="image2.jpeg"/>
          <p:cNvPicPr/>
          <p:nvPr/>
        </p:nvPicPr>
        <p:blipFill>
          <a:blip r:embed="rId3" cstate="print"/>
          <a:srcRect/>
          <a:stretch>
            <a:fillRect/>
          </a:stretch>
        </p:blipFill>
        <p:spPr>
          <a:xfrm>
            <a:off x="186264" y="312872"/>
            <a:ext cx="1397977" cy="1494693"/>
          </a:xfrm>
          <a:prstGeom prst="rect">
            <a:avLst/>
          </a:prstGeom>
        </p:spPr>
      </p:pic>
      <p:sp>
        <p:nvSpPr>
          <p:cNvPr id="5" name="Google Shape;55;p13"/>
          <p:cNvSpPr txBox="1">
            <a:spLocks noGrp="1"/>
          </p:cNvSpPr>
          <p:nvPr/>
        </p:nvSpPr>
        <p:spPr>
          <a:xfrm>
            <a:off x="5010764" y="3908651"/>
            <a:ext cx="2899969" cy="64061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ctr" rtl="0">
              <a:lnSpc>
                <a:spcPct val="100000"/>
              </a:lnSpc>
              <a:spcBef>
                <a:spcPts val="0"/>
              </a:spcBef>
              <a:spcAft>
                <a:spcPts val="0"/>
              </a:spcAft>
              <a:buClr>
                <a:schemeClr val="dk2"/>
              </a:buClr>
              <a:buSzPts val="2800"/>
              <a:buFont typeface="Arial" panose="020B0604020202020204"/>
              <a:buNone/>
              <a:defRPr sz="28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altLang="en-GB" sz="1600" dirty="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Presented By:-</a:t>
            </a:r>
          </a:p>
          <a:p>
            <a:pPr marL="0" lvl="0" indent="0" algn="ctr" rtl="0">
              <a:spcBef>
                <a:spcPts val="0"/>
              </a:spcBef>
              <a:spcAft>
                <a:spcPts val="0"/>
              </a:spcAft>
              <a:buNone/>
            </a:pPr>
            <a:r>
              <a:rPr lang="en-US" altLang="en-GB" sz="1600" dirty="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Soham Patel </a:t>
            </a:r>
            <a:r>
              <a:rPr lang="en-US" altLang="en-GB" sz="160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(201390107508</a:t>
            </a:r>
            <a:r>
              <a:rPr lang="en-US" altLang="en-GB" sz="1600" dirty="0">
                <a:solidFill>
                  <a:schemeClr val="tx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p>
        </p:txBody>
      </p:sp>
      <p:pic>
        <p:nvPicPr>
          <p:cNvPr id="3" name="Picture 2">
            <a:extLst>
              <a:ext uri="{FF2B5EF4-FFF2-40B4-BE49-F238E27FC236}">
                <a16:creationId xmlns:a16="http://schemas.microsoft.com/office/drawing/2014/main" id="{432C0E8A-6BBE-A559-BEC9-477DBDE655E3}"/>
              </a:ext>
            </a:extLst>
          </p:cNvPr>
          <p:cNvPicPr>
            <a:picLocks noChangeAspect="1"/>
          </p:cNvPicPr>
          <p:nvPr/>
        </p:nvPicPr>
        <p:blipFill>
          <a:blip r:embed="rId4"/>
          <a:stretch>
            <a:fillRect/>
          </a:stretch>
        </p:blipFill>
        <p:spPr>
          <a:xfrm>
            <a:off x="4859593" y="368408"/>
            <a:ext cx="3001297" cy="611013"/>
          </a:xfrm>
          <a:prstGeom prst="rect">
            <a:avLst/>
          </a:prstGeom>
        </p:spPr>
      </p:pic>
      <p:sp>
        <p:nvSpPr>
          <p:cNvPr id="2" name="Google Shape;55;p13">
            <a:extLst>
              <a:ext uri="{FF2B5EF4-FFF2-40B4-BE49-F238E27FC236}">
                <a16:creationId xmlns:a16="http://schemas.microsoft.com/office/drawing/2014/main" id="{EA21E7D8-9A15-27AD-DDFF-AC7279D5B529}"/>
              </a:ext>
            </a:extLst>
          </p:cNvPr>
          <p:cNvSpPr txBox="1">
            <a:spLocks/>
          </p:cNvSpPr>
          <p:nvPr/>
        </p:nvSpPr>
        <p:spPr>
          <a:xfrm>
            <a:off x="2163088" y="3066662"/>
            <a:ext cx="4583374" cy="495747"/>
          </a:xfrm>
          <a:prstGeom prst="rect">
            <a:avLst/>
          </a:prstGeom>
        </p:spPr>
        <p:txBody>
          <a:bodyPr spcFirstLastPara="1" vert="horz" wrap="square" lIns="91425" tIns="91425" rIns="91425" bIns="91425" rtlCol="0" anchor="t" anchorCtr="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spcBef>
                <a:spcPts val="0"/>
              </a:spcBef>
            </a:pPr>
            <a:r>
              <a:rPr lang="en-GB" b="1" dirty="0">
                <a:latin typeface="Times New Roman" panose="02020603050405020304" pitchFamily="18" charset="0"/>
                <a:cs typeface="Times New Roman" panose="02020603050405020304" pitchFamily="18" charset="0"/>
              </a:rPr>
              <a:t>Internship on PHP Laravel framework</a:t>
            </a:r>
          </a:p>
        </p:txBody>
      </p:sp>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77"/>
        <p:cNvGrpSpPr/>
        <p:nvPr/>
      </p:nvGrpSpPr>
      <p:grpSpPr>
        <a:xfrm>
          <a:off x="0" y="0"/>
          <a:ext cx="0" cy="0"/>
          <a:chOff x="0" y="0"/>
          <a:chExt cx="0" cy="0"/>
        </a:xfrm>
      </p:grpSpPr>
      <p:sp>
        <p:nvSpPr>
          <p:cNvPr id="78" name="Google Shape;78;p1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79" name="Google Shape;79;p1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0" name="Google Shape;80;p1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1" name="Google Shape;81;p1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2" name="Google Shape;82;p15"/>
          <p:cNvSpPr txBox="1">
            <a:spLocks noGrp="1"/>
          </p:cNvSpPr>
          <p:nvPr>
            <p:ph type="title"/>
          </p:nvPr>
        </p:nvSpPr>
        <p:spPr>
          <a:xfrm>
            <a:off x="311625" y="272425"/>
            <a:ext cx="8286300" cy="100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GB" sz="3200" b="1" dirty="0">
                <a:solidFill>
                  <a:srgbClr val="003046"/>
                </a:solidFill>
                <a:latin typeface="Times New Roman" panose="02020603050405020304" pitchFamily="18" charset="0"/>
                <a:cs typeface="Times New Roman" panose="02020603050405020304" pitchFamily="18" charset="0"/>
              </a:rPr>
              <a:t>Contents</a:t>
            </a:r>
            <a:endParaRPr sz="3200" b="1" dirty="0">
              <a:solidFill>
                <a:srgbClr val="003046"/>
              </a:solidFill>
              <a:latin typeface="Times New Roman" panose="02020603050405020304" pitchFamily="18" charset="0"/>
              <a:cs typeface="Times New Roman" panose="02020603050405020304" pitchFamily="18" charset="0"/>
            </a:endParaRPr>
          </a:p>
        </p:txBody>
      </p:sp>
      <p:sp>
        <p:nvSpPr>
          <p:cNvPr id="83" name="Google Shape;83;p15"/>
          <p:cNvSpPr txBox="1">
            <a:spLocks noGrp="1"/>
          </p:cNvSpPr>
          <p:nvPr>
            <p:ph type="body" idx="1"/>
          </p:nvPr>
        </p:nvSpPr>
        <p:spPr>
          <a:xfrm>
            <a:off x="1275000" y="1103312"/>
            <a:ext cx="5600065" cy="3767763"/>
          </a:xfrm>
          <a:prstGeom prst="rect">
            <a:avLst/>
          </a:prstGeom>
        </p:spPr>
        <p:txBody>
          <a:bodyPr spcFirstLastPara="1" wrap="square" lIns="91425" tIns="91425" rIns="91425" bIns="91425" anchor="t" anchorCtr="0">
            <a:noAutofit/>
          </a:bodyPr>
          <a:lstStyle/>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Abstract</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Company Profile</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Work Plan</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Glimpse of Training</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Training summary </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Conclusion</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Future Scope</a:t>
            </a:r>
          </a:p>
          <a:p>
            <a:pPr marL="457200" lvl="0" indent="-355600" algn="just"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Reference</a:t>
            </a:r>
          </a:p>
        </p:txBody>
      </p:sp>
    </p:spTree>
  </p:cSld>
  <p:clrMapOvr>
    <a:masterClrMapping/>
  </p:clrMapOvr>
  <p:transition>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77"/>
        <p:cNvGrpSpPr/>
        <p:nvPr/>
      </p:nvGrpSpPr>
      <p:grpSpPr>
        <a:xfrm>
          <a:off x="0" y="0"/>
          <a:ext cx="0" cy="0"/>
          <a:chOff x="0" y="0"/>
          <a:chExt cx="0" cy="0"/>
        </a:xfrm>
      </p:grpSpPr>
      <p:sp>
        <p:nvSpPr>
          <p:cNvPr id="78" name="Google Shape;78;p1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79" name="Google Shape;79;p1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0" name="Google Shape;80;p1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1" name="Google Shape;81;p1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2" name="Google Shape;82;p15"/>
          <p:cNvSpPr txBox="1">
            <a:spLocks noGrp="1"/>
          </p:cNvSpPr>
          <p:nvPr>
            <p:ph type="title"/>
          </p:nvPr>
        </p:nvSpPr>
        <p:spPr>
          <a:xfrm>
            <a:off x="311625" y="272425"/>
            <a:ext cx="8286300" cy="100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pitchFamily="18" charset="0"/>
                <a:cs typeface="Times New Roman" panose="02020603050405020304" pitchFamily="18" charset="0"/>
              </a:rPr>
              <a:t>Abstract</a:t>
            </a:r>
            <a:endParaRPr lang="en-US" altLang="en-GB" b="1" dirty="0">
              <a:solidFill>
                <a:srgbClr val="003046"/>
              </a:solidFill>
              <a:latin typeface="Times New Roman" panose="02020603050405020304" pitchFamily="18" charset="0"/>
              <a:cs typeface="Times New Roman" panose="02020603050405020304" pitchFamily="18" charset="0"/>
            </a:endParaRPr>
          </a:p>
        </p:txBody>
      </p:sp>
      <p:sp>
        <p:nvSpPr>
          <p:cNvPr id="2" name="Text Placeholder 1"/>
          <p:cNvSpPr>
            <a:spLocks noGrp="1"/>
          </p:cNvSpPr>
          <p:nvPr>
            <p:ph type="body" idx="1"/>
          </p:nvPr>
        </p:nvSpPr>
        <p:spPr>
          <a:xfrm>
            <a:off x="311785" y="1279525"/>
            <a:ext cx="7976235" cy="3416300"/>
          </a:xfrm>
        </p:spPr>
        <p:txBody>
          <a:bodyPr>
            <a:normAutofit/>
          </a:bodyPr>
          <a:lstStyle/>
          <a:p>
            <a:pPr marL="114300" indent="0" algn="just">
              <a:buNone/>
            </a:pPr>
            <a:r>
              <a:rPr lang="en-US" sz="1800" i="1" dirty="0">
                <a:solidFill>
                  <a:schemeClr val="tx1"/>
                </a:solidFill>
                <a:effectLst/>
                <a:latin typeface="Times New Roman" panose="02020603050405020304" pitchFamily="18" charset="0"/>
                <a:ea typeface="Times New Roman" panose="02020603050405020304" pitchFamily="18" charset="0"/>
              </a:rPr>
              <a:t>	The scope of this document is to identify and describe the analysis carried out, the internship</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completion and the experience gained as web developer intern. In this internship of PHP Laravel</a:t>
            </a:r>
            <a:r>
              <a:rPr lang="en-US" sz="1800" i="1" spc="-28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framework is allow you to develop a different kind of websites and webpages, which learn from</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the</a:t>
            </a:r>
            <a:r>
              <a:rPr lang="en-US" sz="1800" i="1" spc="-5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expert</a:t>
            </a:r>
            <a:r>
              <a:rPr lang="en-US" sz="1800" i="1" spc="-5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and</a:t>
            </a:r>
            <a:r>
              <a:rPr lang="en-US" sz="1800" i="1" spc="-5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also</a:t>
            </a:r>
            <a:r>
              <a:rPr lang="en-US" sz="1800" i="1" spc="-5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develop</a:t>
            </a:r>
            <a:r>
              <a:rPr lang="en-US" sz="1800" i="1" spc="-5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the</a:t>
            </a:r>
            <a:r>
              <a:rPr lang="en-US" sz="1800" i="1" spc="-3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webpages.</a:t>
            </a:r>
            <a:r>
              <a:rPr lang="en-US" i="1" spc="15" dirty="0">
                <a:solidFill>
                  <a:schemeClr val="tx1"/>
                </a:solidFill>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Mini</a:t>
            </a:r>
            <a:r>
              <a:rPr lang="en-US" sz="1800" i="1" spc="-2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CRM</a:t>
            </a:r>
            <a:r>
              <a:rPr lang="en-US" sz="1800" i="1" spc="-2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to</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manage</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Companies</a:t>
            </a:r>
            <a:r>
              <a:rPr lang="en-US" sz="1800" i="1" spc="-2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and</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Their</a:t>
            </a:r>
            <a:r>
              <a:rPr lang="en-US" sz="1800" i="1" spc="-4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Employees</a:t>
            </a:r>
            <a:r>
              <a:rPr lang="en-US" sz="1800" i="1" spc="-1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which</a:t>
            </a:r>
            <a:r>
              <a:rPr lang="en-US" sz="1800" i="1" spc="-29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includes Basic Authentication, Database Design and creation in MYSQL, Create / Read / Delete</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and Update functionality for companies and Employees. To learn advance topic/tools related to</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Laravel Framework like database migration, Factory and Faker Class.</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This internship has</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allowed</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me</a:t>
            </a:r>
            <a:r>
              <a:rPr lang="en-US" sz="1800" i="1" spc="-1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to develop</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the</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skills,</a:t>
            </a:r>
            <a:r>
              <a:rPr lang="en-US" sz="1800" i="1" spc="3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work</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habits,</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and</a:t>
            </a:r>
            <a:r>
              <a:rPr lang="en-US" sz="1800" i="1" spc="-3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attitudes</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needed</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for</a:t>
            </a:r>
            <a:r>
              <a:rPr lang="en-US" sz="1800" i="1" spc="-10"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professional</a:t>
            </a:r>
            <a:r>
              <a:rPr lang="en-US" sz="1800" i="1" spc="-5" dirty="0">
                <a:solidFill>
                  <a:schemeClr val="tx1"/>
                </a:solidFill>
                <a:effectLst/>
                <a:latin typeface="Times New Roman" panose="02020603050405020304" pitchFamily="18" charset="0"/>
                <a:ea typeface="Times New Roman" panose="02020603050405020304" pitchFamily="18" charset="0"/>
              </a:rPr>
              <a:t> </a:t>
            </a:r>
            <a:r>
              <a:rPr lang="en-US" sz="1800" i="1" dirty="0">
                <a:solidFill>
                  <a:schemeClr val="tx1"/>
                </a:solidFill>
                <a:effectLst/>
                <a:latin typeface="Times New Roman" panose="02020603050405020304" pitchFamily="18" charset="0"/>
                <a:ea typeface="Times New Roman" panose="02020603050405020304" pitchFamily="18" charset="0"/>
              </a:rPr>
              <a:t>success.</a:t>
            </a:r>
            <a:endParaRPr lang="en-IN" sz="1800" dirty="0">
              <a:solidFill>
                <a:schemeClr val="tx1"/>
              </a:solidFill>
              <a:effectLst/>
              <a:latin typeface="Times New Roman" panose="02020603050405020304" pitchFamily="18" charset="0"/>
              <a:ea typeface="Times New Roman" panose="02020603050405020304" pitchFamily="18" charset="0"/>
            </a:endParaRPr>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77"/>
        <p:cNvGrpSpPr/>
        <p:nvPr/>
      </p:nvGrpSpPr>
      <p:grpSpPr>
        <a:xfrm>
          <a:off x="0" y="0"/>
          <a:ext cx="0" cy="0"/>
          <a:chOff x="0" y="0"/>
          <a:chExt cx="0" cy="0"/>
        </a:xfrm>
      </p:grpSpPr>
      <p:sp>
        <p:nvSpPr>
          <p:cNvPr id="78" name="Google Shape;78;p1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79" name="Google Shape;79;p1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0" name="Google Shape;80;p1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1" name="Google Shape;81;p1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 name="Google Shape;82;p15"/>
          <p:cNvSpPr txBox="1">
            <a:spLocks noGrp="1"/>
          </p:cNvSpPr>
          <p:nvPr>
            <p:ph type="title"/>
          </p:nvPr>
        </p:nvSpPr>
        <p:spPr>
          <a:xfrm>
            <a:off x="311625" y="168285"/>
            <a:ext cx="8286300" cy="100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pitchFamily="18" charset="0"/>
                <a:cs typeface="Times New Roman" panose="02020603050405020304" pitchFamily="18" charset="0"/>
              </a:rPr>
              <a:t>Company Profile</a:t>
            </a:r>
          </a:p>
        </p:txBody>
      </p:sp>
      <p:sp>
        <p:nvSpPr>
          <p:cNvPr id="5" name="Text Placeholder 4"/>
          <p:cNvSpPr>
            <a:spLocks noGrp="1"/>
          </p:cNvSpPr>
          <p:nvPr>
            <p:ph type="body" idx="1"/>
          </p:nvPr>
        </p:nvSpPr>
        <p:spPr>
          <a:xfrm>
            <a:off x="381635" y="823595"/>
            <a:ext cx="8127365" cy="3575605"/>
          </a:xfrm>
        </p:spPr>
        <p:txBody>
          <a:bodyPr>
            <a:noAutofit/>
          </a:bodyPr>
          <a:lstStyle/>
          <a:p>
            <a:pPr algn="just">
              <a:lnSpc>
                <a:spcPct val="150000"/>
              </a:lnSpc>
            </a:pPr>
            <a:r>
              <a:rPr lang="en-US" sz="1600" dirty="0">
                <a:solidFill>
                  <a:schemeClr val="tx1"/>
                </a:solidFill>
                <a:latin typeface="Times New Roman" panose="02020603050405020304" pitchFamily="18" charset="0"/>
                <a:cs typeface="Times New Roman" panose="02020603050405020304" pitchFamily="18" charset="0"/>
              </a:rPr>
              <a:t>Company Name : - Advait Solution.</a:t>
            </a:r>
          </a:p>
          <a:p>
            <a:pPr algn="just">
              <a:lnSpc>
                <a:spcPct val="150000"/>
              </a:lnSpc>
            </a:pPr>
            <a:r>
              <a:rPr lang="en-US" sz="1600" dirty="0">
                <a:solidFill>
                  <a:schemeClr val="tx1"/>
                </a:solidFill>
                <a:latin typeface="Times New Roman" panose="02020603050405020304" pitchFamily="18" charset="0"/>
                <a:cs typeface="Times New Roman" panose="02020603050405020304" pitchFamily="18" charset="0"/>
              </a:rPr>
              <a:t>Specialties : - Database Management, Dynamic Website, CMS Development, Php Based E-Commerce, API Integration, Cloud(Saas, Paas), CRM, Window Application</a:t>
            </a:r>
          </a:p>
          <a:p>
            <a:pPr algn="just">
              <a:lnSpc>
                <a:spcPct val="150000"/>
              </a:lnSpc>
            </a:pPr>
            <a:r>
              <a:rPr lang="en-US" sz="1600" dirty="0">
                <a:solidFill>
                  <a:schemeClr val="tx1"/>
                </a:solidFill>
                <a:latin typeface="Times New Roman" panose="02020603050405020304" pitchFamily="18" charset="0"/>
                <a:cs typeface="Times New Roman" panose="02020603050405020304" pitchFamily="18" charset="0"/>
              </a:rPr>
              <a:t>Located to :- </a:t>
            </a:r>
            <a:r>
              <a:rPr lang="en-IN" sz="1600" b="0" i="0" dirty="0">
                <a:solidFill>
                  <a:schemeClr val="tx1"/>
                </a:solidFill>
                <a:effectLst/>
                <a:latin typeface="Times New Roman" panose="02020603050405020304" pitchFamily="18" charset="0"/>
                <a:cs typeface="Times New Roman" panose="02020603050405020304" pitchFamily="18" charset="0"/>
              </a:rPr>
              <a:t> </a:t>
            </a:r>
            <a:r>
              <a:rPr lang="en-IN" sz="1600" i="0" dirty="0">
                <a:solidFill>
                  <a:schemeClr val="tx1"/>
                </a:solidFill>
                <a:effectLst/>
                <a:latin typeface="Times New Roman" panose="02020603050405020304" pitchFamily="18" charset="0"/>
                <a:cs typeface="Times New Roman" panose="02020603050405020304" pitchFamily="18" charset="0"/>
              </a:rPr>
              <a:t>India (Global)</a:t>
            </a:r>
          </a:p>
          <a:p>
            <a:pPr algn="just">
              <a:lnSpc>
                <a:spcPct val="150000"/>
              </a:lnSpc>
            </a:pPr>
            <a:r>
              <a:rPr lang="en-US" sz="1600" b="0" i="0" dirty="0">
                <a:solidFill>
                  <a:schemeClr val="tx1"/>
                </a:solidFill>
                <a:effectLst/>
                <a:latin typeface="Times New Roman" panose="02020603050405020304" pitchFamily="18" charset="0"/>
                <a:cs typeface="Times New Roman" panose="02020603050405020304" pitchFamily="18" charset="0"/>
              </a:rPr>
              <a:t>Advait Solutions is an IT Consulting &amp; Software Development team delivering end to end IT solutions to Enterprises across the globe. </a:t>
            </a:r>
          </a:p>
        </p:txBody>
      </p:sp>
    </p:spTree>
  </p:cSld>
  <p:clrMapOvr>
    <a:masterClrMapping/>
  </p:clrMapOvr>
  <mc:AlternateContent xmlns:mc="http://schemas.openxmlformats.org/markup-compatibility/2006" xmlns:p15="http://schemas.microsoft.com/office/powerpoint/2012/main">
    <mc:Choice Requires="p15">
      <p:transition spd="slow">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311700" y="39613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Work Plan</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8" name="Picture 7">
            <a:extLst>
              <a:ext uri="{FF2B5EF4-FFF2-40B4-BE49-F238E27FC236}">
                <a16:creationId xmlns:a16="http://schemas.microsoft.com/office/drawing/2014/main" id="{6D7DD041-E29E-5D2A-2E34-3B9570A6D036}"/>
              </a:ext>
            </a:extLst>
          </p:cNvPr>
          <p:cNvPicPr>
            <a:picLocks noChangeAspect="1"/>
          </p:cNvPicPr>
          <p:nvPr/>
        </p:nvPicPr>
        <p:blipFill>
          <a:blip r:embed="rId3"/>
          <a:stretch>
            <a:fillRect/>
          </a:stretch>
        </p:blipFill>
        <p:spPr>
          <a:xfrm>
            <a:off x="4272780" y="958974"/>
            <a:ext cx="4069240" cy="1998925"/>
          </a:xfrm>
          <a:prstGeom prst="rect">
            <a:avLst/>
          </a:prstGeom>
        </p:spPr>
      </p:pic>
      <p:pic>
        <p:nvPicPr>
          <p:cNvPr id="10" name="Picture 9">
            <a:extLst>
              <a:ext uri="{FF2B5EF4-FFF2-40B4-BE49-F238E27FC236}">
                <a16:creationId xmlns:a16="http://schemas.microsoft.com/office/drawing/2014/main" id="{DB971654-F49E-2A9E-1D41-87016D89ADA6}"/>
              </a:ext>
            </a:extLst>
          </p:cNvPr>
          <p:cNvPicPr>
            <a:picLocks noChangeAspect="1"/>
          </p:cNvPicPr>
          <p:nvPr/>
        </p:nvPicPr>
        <p:blipFill>
          <a:blip r:embed="rId4"/>
          <a:stretch>
            <a:fillRect/>
          </a:stretch>
        </p:blipFill>
        <p:spPr>
          <a:xfrm>
            <a:off x="2433253" y="3024219"/>
            <a:ext cx="3875186" cy="2049058"/>
          </a:xfrm>
          <a:prstGeom prst="rect">
            <a:avLst/>
          </a:prstGeom>
        </p:spPr>
      </p:pic>
      <p:pic>
        <p:nvPicPr>
          <p:cNvPr id="12" name="Picture 11">
            <a:extLst>
              <a:ext uri="{FF2B5EF4-FFF2-40B4-BE49-F238E27FC236}">
                <a16:creationId xmlns:a16="http://schemas.microsoft.com/office/drawing/2014/main" id="{62EE09A3-C45F-B473-6D7E-110E85A661A8}"/>
              </a:ext>
            </a:extLst>
          </p:cNvPr>
          <p:cNvPicPr>
            <a:picLocks noChangeAspect="1"/>
          </p:cNvPicPr>
          <p:nvPr/>
        </p:nvPicPr>
        <p:blipFill>
          <a:blip r:embed="rId5"/>
          <a:stretch>
            <a:fillRect/>
          </a:stretch>
        </p:blipFill>
        <p:spPr>
          <a:xfrm>
            <a:off x="371473" y="958974"/>
            <a:ext cx="3841534" cy="1998924"/>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161293" y="272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3047135" y="4449787"/>
            <a:ext cx="2748915"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lgn="ctr">
              <a:buNone/>
            </a:pPr>
            <a:r>
              <a:rPr lang="en-US" dirty="0"/>
              <a:t>Figure 1 : Sign In Page</a:t>
            </a:r>
          </a:p>
        </p:txBody>
      </p:sp>
      <p:grpSp>
        <p:nvGrpSpPr>
          <p:cNvPr id="6" name="Group 5">
            <a:extLst>
              <a:ext uri="{FF2B5EF4-FFF2-40B4-BE49-F238E27FC236}">
                <a16:creationId xmlns:a16="http://schemas.microsoft.com/office/drawing/2014/main" id="{14180968-9183-5860-4B76-FE0E2916DEC3}"/>
              </a:ext>
            </a:extLst>
          </p:cNvPr>
          <p:cNvGrpSpPr>
            <a:grpSpLocks/>
          </p:cNvGrpSpPr>
          <p:nvPr/>
        </p:nvGrpSpPr>
        <p:grpSpPr bwMode="auto">
          <a:xfrm>
            <a:off x="756849" y="949194"/>
            <a:ext cx="7029450" cy="3456804"/>
            <a:chOff x="1455" y="248"/>
            <a:chExt cx="9056" cy="5107"/>
          </a:xfrm>
        </p:grpSpPr>
        <p:pic>
          <p:nvPicPr>
            <p:cNvPr id="1030" name="Picture 6">
              <a:extLst>
                <a:ext uri="{FF2B5EF4-FFF2-40B4-BE49-F238E27FC236}">
                  <a16:creationId xmlns:a16="http://schemas.microsoft.com/office/drawing/2014/main" id="{BC0088E1-CEBC-0A2E-91B3-3202AFBFC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62"/>
              <a:ext cx="9026" cy="507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a:extLst>
                <a:ext uri="{FF2B5EF4-FFF2-40B4-BE49-F238E27FC236}">
                  <a16:creationId xmlns:a16="http://schemas.microsoft.com/office/drawing/2014/main" id="{08E20964-D25F-0FF9-6491-A7CF840E3E44}"/>
                </a:ext>
              </a:extLst>
            </p:cNvPr>
            <p:cNvSpPr>
              <a:spLocks noChangeArrowheads="1"/>
            </p:cNvSpPr>
            <p:nvPr/>
          </p:nvSpPr>
          <p:spPr bwMode="auto">
            <a:xfrm>
              <a:off x="1462" y="255"/>
              <a:ext cx="9041" cy="50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mc:AlternateContent xmlns:mc="http://schemas.openxmlformats.org/markup-compatibility/2006" xmlns:p15="http://schemas.microsoft.com/office/powerpoint/2012/main">
    <mc:Choice Requires="p15">
      <p:transition spd="slow">
        <p15:prstTrans prst="prestig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240263" y="33780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3126105" y="4394760"/>
            <a:ext cx="2748915"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lgn="ctr">
              <a:buNone/>
            </a:pPr>
            <a:r>
              <a:rPr lang="en-US" dirty="0"/>
              <a:t>Figure 2 : Sign Up Page</a:t>
            </a:r>
          </a:p>
        </p:txBody>
      </p:sp>
      <p:grpSp>
        <p:nvGrpSpPr>
          <p:cNvPr id="2" name="Group 2">
            <a:extLst>
              <a:ext uri="{FF2B5EF4-FFF2-40B4-BE49-F238E27FC236}">
                <a16:creationId xmlns:a16="http://schemas.microsoft.com/office/drawing/2014/main" id="{150AEAEE-4EDB-9798-AC9E-20B9340CE211}"/>
              </a:ext>
            </a:extLst>
          </p:cNvPr>
          <p:cNvGrpSpPr>
            <a:grpSpLocks/>
          </p:cNvGrpSpPr>
          <p:nvPr/>
        </p:nvGrpSpPr>
        <p:grpSpPr bwMode="auto">
          <a:xfrm>
            <a:off x="814389" y="1017725"/>
            <a:ext cx="7108030" cy="3302815"/>
            <a:chOff x="1455" y="246"/>
            <a:chExt cx="9056" cy="5107"/>
          </a:xfrm>
        </p:grpSpPr>
        <p:pic>
          <p:nvPicPr>
            <p:cNvPr id="5" name="Picture 3">
              <a:extLst>
                <a:ext uri="{FF2B5EF4-FFF2-40B4-BE49-F238E27FC236}">
                  <a16:creationId xmlns:a16="http://schemas.microsoft.com/office/drawing/2014/main" id="{2D03CD12-CE39-61A5-D2ED-279FC66F9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60"/>
              <a:ext cx="9026" cy="50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8424359-009A-0B43-F303-4EA5A74DCFC3}"/>
                </a:ext>
              </a:extLst>
            </p:cNvPr>
            <p:cNvSpPr>
              <a:spLocks noChangeArrowheads="1"/>
            </p:cNvSpPr>
            <p:nvPr/>
          </p:nvSpPr>
          <p:spPr bwMode="auto">
            <a:xfrm>
              <a:off x="1462" y="253"/>
              <a:ext cx="9041" cy="50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mc:AlternateContent xmlns:mc="http://schemas.openxmlformats.org/markup-compatibility/2006" xmlns:p15="http://schemas.microsoft.com/office/powerpoint/2012/main">
    <mc:Choice Requires="p15">
      <p:transition spd="med">
        <p15:prstTrans prst="peelOff"/>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77250" y="273176"/>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3017996" y="4556370"/>
            <a:ext cx="3597116"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t>Figure 3 : User’s Dashboard </a:t>
            </a:r>
          </a:p>
        </p:txBody>
      </p:sp>
      <p:grpSp>
        <p:nvGrpSpPr>
          <p:cNvPr id="9" name="Group 5">
            <a:extLst>
              <a:ext uri="{FF2B5EF4-FFF2-40B4-BE49-F238E27FC236}">
                <a16:creationId xmlns:a16="http://schemas.microsoft.com/office/drawing/2014/main" id="{8E422EC3-63B8-EDBA-1D3F-B72C4C13A363}"/>
              </a:ext>
            </a:extLst>
          </p:cNvPr>
          <p:cNvGrpSpPr>
            <a:grpSpLocks/>
          </p:cNvGrpSpPr>
          <p:nvPr/>
        </p:nvGrpSpPr>
        <p:grpSpPr bwMode="auto">
          <a:xfrm>
            <a:off x="771526" y="842963"/>
            <a:ext cx="7115174" cy="3614737"/>
            <a:chOff x="1455" y="290"/>
            <a:chExt cx="9056" cy="4345"/>
          </a:xfrm>
        </p:grpSpPr>
        <p:pic>
          <p:nvPicPr>
            <p:cNvPr id="2054" name="Picture 6">
              <a:extLst>
                <a:ext uri="{FF2B5EF4-FFF2-40B4-BE49-F238E27FC236}">
                  <a16:creationId xmlns:a16="http://schemas.microsoft.com/office/drawing/2014/main" id="{F3CD873C-84C3-F636-75E3-BB127A44E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304"/>
              <a:ext cx="9026" cy="431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7">
              <a:extLst>
                <a:ext uri="{FF2B5EF4-FFF2-40B4-BE49-F238E27FC236}">
                  <a16:creationId xmlns:a16="http://schemas.microsoft.com/office/drawing/2014/main" id="{105A2340-41F3-CAB2-EEB1-B34164EB9116}"/>
                </a:ext>
              </a:extLst>
            </p:cNvPr>
            <p:cNvSpPr>
              <a:spLocks noChangeArrowheads="1"/>
            </p:cNvSpPr>
            <p:nvPr/>
          </p:nvSpPr>
          <p:spPr bwMode="auto">
            <a:xfrm>
              <a:off x="1462" y="297"/>
              <a:ext cx="9041" cy="433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mc:AlternateContent xmlns:mc="http://schemas.openxmlformats.org/markup-compatibility/2006" xmlns:p15="http://schemas.microsoft.com/office/powerpoint/2012/main">
    <mc:Choice Requires="p15">
      <p:transition spd="med">
        <p15:prstTrans prst="pageCurlDoubl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67575" y="264413"/>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2903696" y="4507929"/>
            <a:ext cx="4204336"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t>Figure 4 : User Profile Page</a:t>
            </a:r>
          </a:p>
        </p:txBody>
      </p:sp>
      <p:grpSp>
        <p:nvGrpSpPr>
          <p:cNvPr id="6" name="Group 2">
            <a:extLst>
              <a:ext uri="{FF2B5EF4-FFF2-40B4-BE49-F238E27FC236}">
                <a16:creationId xmlns:a16="http://schemas.microsoft.com/office/drawing/2014/main" id="{37ED39A1-88C9-43D6-C426-6889845A3C27}"/>
              </a:ext>
            </a:extLst>
          </p:cNvPr>
          <p:cNvGrpSpPr>
            <a:grpSpLocks/>
          </p:cNvGrpSpPr>
          <p:nvPr/>
        </p:nvGrpSpPr>
        <p:grpSpPr bwMode="auto">
          <a:xfrm>
            <a:off x="780667" y="778863"/>
            <a:ext cx="7184614" cy="3643312"/>
            <a:chOff x="1455" y="201"/>
            <a:chExt cx="9056" cy="4950"/>
          </a:xfrm>
        </p:grpSpPr>
        <p:pic>
          <p:nvPicPr>
            <p:cNvPr id="3075" name="Picture 3">
              <a:extLst>
                <a:ext uri="{FF2B5EF4-FFF2-40B4-BE49-F238E27FC236}">
                  <a16:creationId xmlns:a16="http://schemas.microsoft.com/office/drawing/2014/main" id="{7B027E59-DF26-76D2-A204-CF1168C02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15"/>
              <a:ext cx="9026" cy="49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C5B32AE4-A963-E9C5-EB17-DE135B9BA7F3}"/>
                </a:ext>
              </a:extLst>
            </p:cNvPr>
            <p:cNvSpPr>
              <a:spLocks noChangeArrowheads="1"/>
            </p:cNvSpPr>
            <p:nvPr/>
          </p:nvSpPr>
          <p:spPr bwMode="auto">
            <a:xfrm>
              <a:off x="1462" y="208"/>
              <a:ext cx="9041" cy="493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mc:AlternateContent xmlns:mc="http://schemas.openxmlformats.org/markup-compatibility/2006" xmlns:p15="http://schemas.microsoft.com/office/powerpoint/2012/main">
    <mc:Choice Requires="p15">
      <p:transition spd="med">
        <p15:prstTrans prst="airplan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104212" y="27740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2930736" y="4567480"/>
            <a:ext cx="3639979"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t>Figure 5 : User Password Page</a:t>
            </a:r>
          </a:p>
        </p:txBody>
      </p:sp>
      <p:grpSp>
        <p:nvGrpSpPr>
          <p:cNvPr id="6" name="Group 2">
            <a:extLst>
              <a:ext uri="{FF2B5EF4-FFF2-40B4-BE49-F238E27FC236}">
                <a16:creationId xmlns:a16="http://schemas.microsoft.com/office/drawing/2014/main" id="{F90836AD-FB43-69C9-5B8A-54BD4ADED596}"/>
              </a:ext>
            </a:extLst>
          </p:cNvPr>
          <p:cNvGrpSpPr>
            <a:grpSpLocks/>
          </p:cNvGrpSpPr>
          <p:nvPr/>
        </p:nvGrpSpPr>
        <p:grpSpPr bwMode="auto">
          <a:xfrm>
            <a:off x="792956" y="850106"/>
            <a:ext cx="7143750" cy="3643313"/>
            <a:chOff x="1455" y="246"/>
            <a:chExt cx="8973" cy="4738"/>
          </a:xfrm>
        </p:grpSpPr>
        <p:pic>
          <p:nvPicPr>
            <p:cNvPr id="4099" name="Picture 3">
              <a:extLst>
                <a:ext uri="{FF2B5EF4-FFF2-40B4-BE49-F238E27FC236}">
                  <a16:creationId xmlns:a16="http://schemas.microsoft.com/office/drawing/2014/main" id="{51965C18-4651-ADB6-AA97-313889A61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61"/>
              <a:ext cx="8943" cy="470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BF3D712A-769E-A38D-992E-29F4CCCA139F}"/>
                </a:ext>
              </a:extLst>
            </p:cNvPr>
            <p:cNvSpPr>
              <a:spLocks noChangeArrowheads="1"/>
            </p:cNvSpPr>
            <p:nvPr/>
          </p:nvSpPr>
          <p:spPr bwMode="auto">
            <a:xfrm>
              <a:off x="1462" y="253"/>
              <a:ext cx="8958" cy="472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transition spd="med">
    <p:checke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183112" y="262327"/>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2565876" y="4495409"/>
            <a:ext cx="5006340"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t>Figure 6 : Brand Image CRUD Operation</a:t>
            </a:r>
          </a:p>
        </p:txBody>
      </p:sp>
      <p:grpSp>
        <p:nvGrpSpPr>
          <p:cNvPr id="6" name="Group 2">
            <a:extLst>
              <a:ext uri="{FF2B5EF4-FFF2-40B4-BE49-F238E27FC236}">
                <a16:creationId xmlns:a16="http://schemas.microsoft.com/office/drawing/2014/main" id="{162CA2CF-E197-0DB8-1239-A1F804C3E041}"/>
              </a:ext>
            </a:extLst>
          </p:cNvPr>
          <p:cNvGrpSpPr>
            <a:grpSpLocks/>
          </p:cNvGrpSpPr>
          <p:nvPr/>
        </p:nvGrpSpPr>
        <p:grpSpPr bwMode="auto">
          <a:xfrm>
            <a:off x="778669" y="827119"/>
            <a:ext cx="7150894" cy="3614199"/>
            <a:chOff x="1455" y="244"/>
            <a:chExt cx="9056" cy="4918"/>
          </a:xfrm>
        </p:grpSpPr>
        <p:pic>
          <p:nvPicPr>
            <p:cNvPr id="5123" name="Picture 3">
              <a:extLst>
                <a:ext uri="{FF2B5EF4-FFF2-40B4-BE49-F238E27FC236}">
                  <a16:creationId xmlns:a16="http://schemas.microsoft.com/office/drawing/2014/main" id="{0BCF05D7-5F58-6B61-C560-8534993A2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58"/>
              <a:ext cx="9026" cy="48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40397C63-D185-7BE2-1588-6BD02CF97FD6}"/>
                </a:ext>
              </a:extLst>
            </p:cNvPr>
            <p:cNvSpPr>
              <a:spLocks noChangeArrowheads="1"/>
            </p:cNvSpPr>
            <p:nvPr/>
          </p:nvSpPr>
          <p:spPr bwMode="auto">
            <a:xfrm>
              <a:off x="1462" y="251"/>
              <a:ext cx="9041" cy="490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transition spd="med">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215020" y="260244"/>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3059085" y="4544157"/>
            <a:ext cx="3754755"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t>Figure 7 : Contact Details Page</a:t>
            </a:r>
          </a:p>
        </p:txBody>
      </p:sp>
      <p:grpSp>
        <p:nvGrpSpPr>
          <p:cNvPr id="6" name="Group 2">
            <a:extLst>
              <a:ext uri="{FF2B5EF4-FFF2-40B4-BE49-F238E27FC236}">
                <a16:creationId xmlns:a16="http://schemas.microsoft.com/office/drawing/2014/main" id="{C51AC9EA-4535-013B-193F-A80410E9C6B7}"/>
              </a:ext>
            </a:extLst>
          </p:cNvPr>
          <p:cNvGrpSpPr>
            <a:grpSpLocks/>
          </p:cNvGrpSpPr>
          <p:nvPr/>
        </p:nvGrpSpPr>
        <p:grpSpPr bwMode="auto">
          <a:xfrm>
            <a:off x="757238" y="885825"/>
            <a:ext cx="7100887" cy="3606165"/>
            <a:chOff x="1455" y="196"/>
            <a:chExt cx="9056" cy="5049"/>
          </a:xfrm>
        </p:grpSpPr>
        <p:pic>
          <p:nvPicPr>
            <p:cNvPr id="6147" name="Picture 3">
              <a:extLst>
                <a:ext uri="{FF2B5EF4-FFF2-40B4-BE49-F238E27FC236}">
                  <a16:creationId xmlns:a16="http://schemas.microsoft.com/office/drawing/2014/main" id="{4E79C3F4-5DC4-84DD-9FC4-4C521E3ED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210"/>
              <a:ext cx="9026" cy="501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FFB7CB4C-19F0-66BC-8FC3-947FDE09BD25}"/>
                </a:ext>
              </a:extLst>
            </p:cNvPr>
            <p:cNvSpPr>
              <a:spLocks noChangeArrowheads="1"/>
            </p:cNvSpPr>
            <p:nvPr/>
          </p:nvSpPr>
          <p:spPr bwMode="auto">
            <a:xfrm>
              <a:off x="1462" y="203"/>
              <a:ext cx="9041" cy="50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transition spd="med">
    <p:wheel spokes="1"/>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283125" y="213589"/>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2800" b="1" dirty="0">
                <a:solidFill>
                  <a:srgbClr val="003046"/>
                </a:solidFill>
                <a:latin typeface="Times New Roman" panose="02020603050405020304" pitchFamily="18" charset="0"/>
                <a:cs typeface="Times New Roman" panose="02020603050405020304" pitchFamily="18" charset="0"/>
              </a:rPr>
              <a:t>Glimpse of Project</a:t>
            </a:r>
          </a:p>
        </p:txBody>
      </p:sp>
      <p:sp>
        <p:nvSpPr>
          <p:cNvPr id="90" name="Google Shape;90;p1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1" name="Google Shape;91;p1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2" name="Google Shape;92;p1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93" name="Google Shape;93;p1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 name="Text Placeholder 5"/>
          <p:cNvSpPr/>
          <p:nvPr/>
        </p:nvSpPr>
        <p:spPr>
          <a:xfrm>
            <a:off x="3260328" y="4635540"/>
            <a:ext cx="3109119" cy="742315"/>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14300" indent="0">
              <a:buNone/>
            </a:pPr>
            <a:r>
              <a:rPr lang="en-US" dirty="0">
                <a:sym typeface="+mn-ea"/>
              </a:rPr>
              <a:t>Figure 8 : User’s Database</a:t>
            </a:r>
            <a:endParaRPr lang="en-US" dirty="0"/>
          </a:p>
        </p:txBody>
      </p:sp>
      <p:grpSp>
        <p:nvGrpSpPr>
          <p:cNvPr id="2" name="Group 2">
            <a:extLst>
              <a:ext uri="{FF2B5EF4-FFF2-40B4-BE49-F238E27FC236}">
                <a16:creationId xmlns:a16="http://schemas.microsoft.com/office/drawing/2014/main" id="{869DD4CC-46E4-C43F-4399-5552B0EC1C9B}"/>
              </a:ext>
            </a:extLst>
          </p:cNvPr>
          <p:cNvGrpSpPr>
            <a:grpSpLocks/>
          </p:cNvGrpSpPr>
          <p:nvPr/>
        </p:nvGrpSpPr>
        <p:grpSpPr bwMode="auto">
          <a:xfrm>
            <a:off x="750095" y="786290"/>
            <a:ext cx="7079456" cy="3714274"/>
            <a:chOff x="1455" y="294"/>
            <a:chExt cx="9056" cy="5107"/>
          </a:xfrm>
        </p:grpSpPr>
        <p:pic>
          <p:nvPicPr>
            <p:cNvPr id="8195" name="Picture 3">
              <a:extLst>
                <a:ext uri="{FF2B5EF4-FFF2-40B4-BE49-F238E27FC236}">
                  <a16:creationId xmlns:a16="http://schemas.microsoft.com/office/drawing/2014/main" id="{CE1B6E39-30B3-37BB-478D-A43A3EA6A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 y="309"/>
              <a:ext cx="9026" cy="507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1788433-8FEB-02FE-4BB0-AFAE8AEC6EBD}"/>
                </a:ext>
              </a:extLst>
            </p:cNvPr>
            <p:cNvSpPr>
              <a:spLocks noChangeArrowheads="1"/>
            </p:cNvSpPr>
            <p:nvPr/>
          </p:nvSpPr>
          <p:spPr bwMode="auto">
            <a:xfrm>
              <a:off x="1462" y="301"/>
              <a:ext cx="9041" cy="50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mc:AlternateContent xmlns:mc="http://schemas.openxmlformats.org/markup-compatibility/2006" xmlns:p14="http://schemas.microsoft.com/office/powerpoint/2010/main">
    <mc:Choice Requires="p14">
      <p:transition spd="med">
        <p14:rippl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77"/>
        <p:cNvGrpSpPr/>
        <p:nvPr/>
      </p:nvGrpSpPr>
      <p:grpSpPr>
        <a:xfrm>
          <a:off x="0" y="0"/>
          <a:ext cx="0" cy="0"/>
          <a:chOff x="0" y="0"/>
          <a:chExt cx="0" cy="0"/>
        </a:xfrm>
      </p:grpSpPr>
      <p:sp>
        <p:nvSpPr>
          <p:cNvPr id="78" name="Google Shape;78;p1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79" name="Google Shape;79;p1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0" name="Google Shape;80;p1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1" name="Google Shape;81;p1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7" name="Google Shape;82;p15"/>
          <p:cNvSpPr txBox="1">
            <a:spLocks noGrp="1"/>
          </p:cNvSpPr>
          <p:nvPr>
            <p:ph type="title"/>
          </p:nvPr>
        </p:nvSpPr>
        <p:spPr>
          <a:xfrm>
            <a:off x="311625" y="272425"/>
            <a:ext cx="8286300" cy="100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pitchFamily="18" charset="0"/>
                <a:cs typeface="Times New Roman" panose="02020603050405020304" pitchFamily="18" charset="0"/>
              </a:rPr>
              <a:t>Training Summary</a:t>
            </a:r>
          </a:p>
        </p:txBody>
      </p:sp>
      <p:sp>
        <p:nvSpPr>
          <p:cNvPr id="3" name="TextBox 2">
            <a:extLst>
              <a:ext uri="{FF2B5EF4-FFF2-40B4-BE49-F238E27FC236}">
                <a16:creationId xmlns:a16="http://schemas.microsoft.com/office/drawing/2014/main" id="{360FD4F5-8EED-630A-DECC-9ED230424654}"/>
              </a:ext>
            </a:extLst>
          </p:cNvPr>
          <p:cNvSpPr txBox="1"/>
          <p:nvPr/>
        </p:nvSpPr>
        <p:spPr>
          <a:xfrm>
            <a:off x="868275" y="1436225"/>
            <a:ext cx="7173000" cy="3231654"/>
          </a:xfrm>
          <a:prstGeom prst="rect">
            <a:avLst/>
          </a:prstGeom>
          <a:noFill/>
        </p:spPr>
        <p:txBody>
          <a:bodyPr wrap="square">
            <a:spAutoFit/>
          </a:bodyPr>
          <a:lstStyle/>
          <a:p>
            <a:pPr algn="just"/>
            <a:r>
              <a:rPr lang="en-IN" sz="1700" dirty="0">
                <a:latin typeface="Times New Roman" panose="02020603050405020304" pitchFamily="18" charset="0"/>
                <a:cs typeface="Times New Roman" panose="02020603050405020304" pitchFamily="18" charset="0"/>
              </a:rPr>
              <a:t>This internship allowed me to work in an industrial environment and be supervised by experts of that company. Throughout my time at Advait Solutions, the team has led me in every possible way from the beginning to the end. While, working on the practical implementation and I got support from both the development team and the testing team. The program offered by Advait Solution was fully structured and scheduled, every task had a complete description of learning and implementation with different milestones to complete. After the completion of each project, I performed testing of the projects, which gave me the experience of how developer side testing is carried out. Overall, the internship was very beneficial as I have improved my technical and practical knowledge along with the business skills like teamwork, time management, leadership, and a lot more.</a:t>
            </a:r>
          </a:p>
        </p:txBody>
      </p:sp>
    </p:spTree>
  </p:cSld>
  <p:clrMapOvr>
    <a:masterClrMapping/>
  </p:clrMapOvr>
  <mc:AlternateContent xmlns:mc="http://schemas.openxmlformats.org/markup-compatibility/2006" xmlns:p14="http://schemas.microsoft.com/office/powerpoint/2010/main">
    <mc:Choice Requires="p14">
      <p:transition spd="slow">
        <p14:glitter pattern="hexago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179"/>
        <p:cNvGrpSpPr/>
        <p:nvPr/>
      </p:nvGrpSpPr>
      <p:grpSpPr>
        <a:xfrm>
          <a:off x="0" y="0"/>
          <a:ext cx="0" cy="0"/>
          <a:chOff x="0" y="0"/>
          <a:chExt cx="0" cy="0"/>
        </a:xfrm>
      </p:grpSpPr>
      <p:sp>
        <p:nvSpPr>
          <p:cNvPr id="181" name="Google Shape;181;p24"/>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82" name="Google Shape;182;p24"/>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83" name="Google Shape;183;p24"/>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84" name="Google Shape;184;p24"/>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3" name="Google Shape;193;p2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pitchFamily="18" charset="0"/>
                <a:cs typeface="Times New Roman" panose="02020603050405020304" pitchFamily="18" charset="0"/>
              </a:rPr>
              <a:t>Conclusion</a:t>
            </a:r>
          </a:p>
        </p:txBody>
      </p:sp>
      <p:sp>
        <p:nvSpPr>
          <p:cNvPr id="5" name="Text Placeholder 4"/>
          <p:cNvSpPr>
            <a:spLocks noGrp="1"/>
          </p:cNvSpPr>
          <p:nvPr>
            <p:ph type="body" idx="1"/>
          </p:nvPr>
        </p:nvSpPr>
        <p:spPr>
          <a:xfrm>
            <a:off x="578485" y="1152525"/>
            <a:ext cx="7544435" cy="3416300"/>
          </a:xfrm>
        </p:spPr>
        <p:txBody>
          <a:bodyPr/>
          <a:lstStyle/>
          <a:p>
            <a:pPr marL="114300" indent="0" algn="just">
              <a:buNone/>
            </a:pPr>
            <a:r>
              <a:rPr lang="en-US" sz="1800" dirty="0">
                <a:solidFill>
                  <a:schemeClr val="tx1"/>
                </a:solidFill>
                <a:effectLst/>
                <a:latin typeface="Times New Roman" panose="02020603050405020304" pitchFamily="18" charset="0"/>
                <a:ea typeface="Times New Roman" panose="02020603050405020304" pitchFamily="18" charset="0"/>
              </a:rPr>
              <a:t>During Internship I have learned lot of things related PHP Laravel framework.</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Internship at Advait Solution has been excellent experience. It helped me out to</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enhance and develop my soft skills. In internship I learned PHP Laravel framework</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and</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worked</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 team was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great</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experience.</a:t>
            </a:r>
            <a:r>
              <a:rPr lang="en-US" sz="1800" spc="5" dirty="0">
                <a:solidFill>
                  <a:schemeClr val="tx1"/>
                </a:solidFill>
                <a:effectLst/>
                <a:latin typeface="Times New Roman" panose="02020603050405020304" pitchFamily="18" charset="0"/>
                <a:ea typeface="Times New Roman" panose="02020603050405020304" pitchFamily="18" charset="0"/>
              </a:rPr>
              <a:t> </a:t>
            </a:r>
            <a:endParaRPr lang="en-US"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pan dir="u"/>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192"/>
        <p:cNvGrpSpPr/>
        <p:nvPr/>
      </p:nvGrpSpPr>
      <p:grpSpPr>
        <a:xfrm>
          <a:off x="0" y="0"/>
          <a:ext cx="0" cy="0"/>
          <a:chOff x="0" y="0"/>
          <a:chExt cx="0" cy="0"/>
        </a:xfrm>
      </p:grpSpPr>
      <p:sp>
        <p:nvSpPr>
          <p:cNvPr id="193" name="Google Shape;193;p2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pitchFamily="18" charset="0"/>
                <a:cs typeface="Times New Roman" panose="02020603050405020304" pitchFamily="18" charset="0"/>
              </a:rPr>
              <a:t>Future Scope</a:t>
            </a:r>
          </a:p>
        </p:txBody>
      </p:sp>
      <p:sp>
        <p:nvSpPr>
          <p:cNvPr id="194" name="Google Shape;194;p25"/>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Template Engine</a:t>
            </a:r>
          </a:p>
          <a:p>
            <a:pPr marL="457200" lvl="0" indent="-355600" algn="l"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MVC Architecture Support</a:t>
            </a:r>
          </a:p>
          <a:p>
            <a:pPr marL="457200" lvl="0" indent="-355600" algn="l"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Authentication and Authorization</a:t>
            </a:r>
          </a:p>
          <a:p>
            <a:pPr marL="457200" lvl="0" indent="-355600" algn="l"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Routing System</a:t>
            </a:r>
          </a:p>
          <a:p>
            <a:pPr marL="457200" lvl="0" indent="-355600" algn="l" rtl="0">
              <a:lnSpc>
                <a:spcPct val="150000"/>
              </a:lnSpc>
              <a:spcBef>
                <a:spcPts val="0"/>
              </a:spcBef>
              <a:spcAft>
                <a:spcPts val="0"/>
              </a:spcAft>
              <a:buClr>
                <a:schemeClr val="dk1"/>
              </a:buClr>
              <a:buSzPts val="2000"/>
              <a:buChar char="●"/>
            </a:pPr>
            <a:r>
              <a:rPr lang="en-US" sz="2000" dirty="0">
                <a:solidFill>
                  <a:srgbClr val="000000"/>
                </a:solidFill>
                <a:latin typeface="Times New Roman" panose="02020603050405020304" pitchFamily="18" charset="0"/>
                <a:cs typeface="Times New Roman" panose="02020603050405020304" pitchFamily="18" charset="0"/>
              </a:rPr>
              <a:t>Eloquent Object Relational Mapping</a:t>
            </a:r>
          </a:p>
          <a:p>
            <a:pPr marL="457200" lvl="0" indent="-355600" algn="l" rtl="0">
              <a:lnSpc>
                <a:spcPct val="150000"/>
              </a:lnSpc>
              <a:spcBef>
                <a:spcPts val="0"/>
              </a:spcBef>
              <a:spcAft>
                <a:spcPts val="0"/>
              </a:spcAft>
              <a:buClr>
                <a:schemeClr val="dk1"/>
              </a:buClr>
              <a:buSzPts val="2000"/>
              <a:buChar char="●"/>
            </a:pPr>
            <a:endParaRPr sz="2100" b="1" dirty="0">
              <a:solidFill>
                <a:srgbClr val="000000"/>
              </a:solidFill>
            </a:endParaRPr>
          </a:p>
        </p:txBody>
      </p:sp>
      <p:sp>
        <p:nvSpPr>
          <p:cNvPr id="195" name="Google Shape;195;p2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6" name="Google Shape;196;p2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7" name="Google Shape;197;p2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8" name="Google Shape;198;p2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192"/>
        <p:cNvGrpSpPr/>
        <p:nvPr/>
      </p:nvGrpSpPr>
      <p:grpSpPr>
        <a:xfrm>
          <a:off x="0" y="0"/>
          <a:ext cx="0" cy="0"/>
          <a:chOff x="0" y="0"/>
          <a:chExt cx="0" cy="0"/>
        </a:xfrm>
      </p:grpSpPr>
      <p:sp>
        <p:nvSpPr>
          <p:cNvPr id="195" name="Google Shape;195;p25"/>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6" name="Google Shape;196;p25"/>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7" name="Google Shape;197;p25"/>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98" name="Google Shape;198;p25"/>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89" name="Google Shape;89;p16"/>
          <p:cNvSpPr txBox="1">
            <a:spLocks noGrp="1"/>
          </p:cNvSpPr>
          <p:nvPr>
            <p:ph type="body" idx="1"/>
          </p:nvPr>
        </p:nvSpPr>
        <p:spPr>
          <a:xfrm>
            <a:off x="311700" y="1152475"/>
            <a:ext cx="8111700" cy="3416400"/>
          </a:xfrm>
          <a:prstGeom prst="rect">
            <a:avLst/>
          </a:prstGeom>
        </p:spPr>
        <p:txBody>
          <a:bodyPr spcFirstLastPara="1" wrap="square" lIns="91425" tIns="91425" rIns="91425" bIns="91425" anchor="t" anchorCtr="0">
            <a:normAutofit/>
          </a:bodyPr>
          <a:lstStyle/>
          <a:p>
            <a:pPr marL="0" marR="0" indent="0">
              <a:spcBef>
                <a:spcPts val="50"/>
              </a:spcBef>
              <a:spcAft>
                <a:spcPts val="0"/>
              </a:spcAft>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200"/>
              <a:buFont typeface="Times New Roman" panose="02020603050405020304" pitchFamily="18" charset="0"/>
              <a:buAutoNum type="arabicPeriod"/>
              <a:tabLst>
                <a:tab pos="687070" algn="l"/>
              </a:tabLst>
            </a:pPr>
            <a:r>
              <a:rPr lang="en-US" sz="1800" u="sng" spc="-10"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https://laravel.com/docs/9.x/installation</a:t>
            </a:r>
            <a:endParaRPr lang="en-IN" sz="1800" dirty="0">
              <a:effectLst/>
              <a:latin typeface="Times New Roman" panose="02020603050405020304" pitchFamily="18" charset="0"/>
              <a:ea typeface="Times New Roman" panose="02020603050405020304" pitchFamily="18" charset="0"/>
            </a:endParaRPr>
          </a:p>
          <a:p>
            <a:pPr marL="342900" marR="0" lvl="0" indent="-342900">
              <a:spcBef>
                <a:spcPts val="710"/>
              </a:spcBef>
              <a:spcAft>
                <a:spcPts val="0"/>
              </a:spcAft>
              <a:buSzPts val="1200"/>
              <a:buFont typeface="Times New Roman" panose="02020603050405020304" pitchFamily="18" charset="0"/>
              <a:buAutoNum type="arabicPeriod"/>
              <a:tabLst>
                <a:tab pos="687070" algn="l"/>
              </a:tabLst>
            </a:pP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https://blog.pusher.com/laravel-mvc-use/</a:t>
            </a:r>
            <a:endParaRPr lang="en-IN" sz="1800" dirty="0">
              <a:effectLst/>
              <a:latin typeface="Times New Roman" panose="02020603050405020304" pitchFamily="18" charset="0"/>
              <a:ea typeface="Times New Roman" panose="02020603050405020304" pitchFamily="18" charset="0"/>
            </a:endParaRPr>
          </a:p>
          <a:p>
            <a:pPr marL="342900" marR="0" lvl="0" indent="-342900">
              <a:spcBef>
                <a:spcPts val="680"/>
              </a:spcBef>
              <a:spcAft>
                <a:spcPts val="0"/>
              </a:spcAft>
              <a:buSzPts val="1200"/>
              <a:buFont typeface="Times New Roman" panose="02020603050405020304" pitchFamily="18" charset="0"/>
              <a:buAutoNum type="arabicPeriod"/>
              <a:tabLst>
                <a:tab pos="687070" algn="l"/>
              </a:tabLst>
            </a:pP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a:t>
            </a:r>
            <a:r>
              <a:rPr lang="en-US" sz="1800" u="sng" dirty="0">
                <a:solidFill>
                  <a:srgbClr val="0000FF"/>
                </a:solidFill>
                <a:latin typeface="Times New Roman" panose="02020603050405020304" pitchFamily="18" charset="0"/>
                <a:ea typeface="Times New Roman" panose="02020603050405020304" pitchFamily="18" charset="0"/>
              </a:rPr>
              <a:t>/www</a:t>
            </a: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a:t>
            </a:r>
            <a:r>
              <a:rPr lang="en-US" sz="1800" u="sng" dirty="0">
                <a:solidFill>
                  <a:srgbClr val="0000FF"/>
                </a:solidFill>
                <a:uFill>
                  <a:solidFill>
                    <a:srgbClr val="0000FF"/>
                  </a:solidFill>
                </a:uFill>
                <a:latin typeface="Times New Roman" panose="02020603050405020304" pitchFamily="18" charset="0"/>
                <a:ea typeface="Times New Roman" panose="02020603050405020304" pitchFamily="18" charset="0"/>
              </a:rPr>
              <a:t>tutorialspoint</a:t>
            </a:r>
            <a:r>
              <a:rPr lang="en-US" sz="1800" u="sng" dirty="0">
                <a:solidFill>
                  <a:srgbClr val="0000FF"/>
                </a:solidFill>
                <a:latin typeface="Times New Roman" panose="02020603050405020304" pitchFamily="18" charset="0"/>
                <a:ea typeface="Times New Roman" panose="02020603050405020304" pitchFamily="18" charset="0"/>
              </a:rPr>
              <a:t>.</a:t>
            </a:r>
            <a:r>
              <a:rPr lang="en-US" sz="1800" u="sng" dirty="0">
                <a:solidFill>
                  <a:srgbClr val="0000FF"/>
                </a:solidFill>
                <a:effectLst/>
                <a:latin typeface="Times New Roman" panose="02020603050405020304" pitchFamily="18" charset="0"/>
                <a:ea typeface="Times New Roman" panose="02020603050405020304" pitchFamily="18" charset="0"/>
              </a:rPr>
              <a:t>c</a:t>
            </a:r>
            <a:r>
              <a:rPr lang="en-US" sz="1800" u="sng" dirty="0">
                <a:solidFill>
                  <a:srgbClr val="0000FF"/>
                </a:solidFill>
                <a:latin typeface="Times New Roman" panose="02020603050405020304" pitchFamily="18" charset="0"/>
                <a:ea typeface="Times New Roman" panose="02020603050405020304" pitchFamily="18" charset="0"/>
              </a:rPr>
              <a:t>om/html/index.htm</a:t>
            </a:r>
            <a:endParaRPr lang="en-IN" sz="1800" dirty="0">
              <a:effectLst/>
              <a:latin typeface="Times New Roman" panose="02020603050405020304" pitchFamily="18" charset="0"/>
              <a:ea typeface="Times New Roman" panose="02020603050405020304" pitchFamily="18" charset="0"/>
            </a:endParaRPr>
          </a:p>
          <a:p>
            <a:pPr marL="342900" marR="0" lvl="0" indent="-342900">
              <a:spcBef>
                <a:spcPts val="710"/>
              </a:spcBef>
              <a:spcAft>
                <a:spcPts val="0"/>
              </a:spcAft>
              <a:buSzPts val="1200"/>
              <a:buFont typeface="Times New Roman" panose="02020603050405020304" pitchFamily="18" charset="0"/>
              <a:buAutoNum type="arabicPeriod"/>
              <a:tabLst>
                <a:tab pos="687070" algn="l"/>
              </a:tabLst>
            </a:pP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a:t>
            </a:r>
            <a:r>
              <a:rPr lang="en-US" sz="1800" u="sng" dirty="0">
                <a:solidFill>
                  <a:srgbClr val="0000FF"/>
                </a:solidFill>
                <a:latin typeface="Times New Roman" panose="02020603050405020304" pitchFamily="18" charset="0"/>
                <a:ea typeface="Times New Roman" panose="02020603050405020304" pitchFamily="18" charset="0"/>
              </a:rPr>
              <a:t>/www</a:t>
            </a:r>
            <a:r>
              <a:rPr lang="en-US" sz="1800" u="sng" dirty="0">
                <a:solidFill>
                  <a:srgbClr val="0000FF"/>
                </a:solidFill>
                <a:uFill>
                  <a:solidFill>
                    <a:srgbClr val="0000FF"/>
                  </a:solidFill>
                </a:uFill>
                <a:latin typeface="Times New Roman" panose="02020603050405020304" pitchFamily="18" charset="0"/>
                <a:ea typeface="Times New Roman" panose="02020603050405020304" pitchFamily="18" charset="0"/>
              </a:rPr>
              <a:t>.tutorialspoint.com/Laravel/laravel _forms.</a:t>
            </a:r>
            <a:r>
              <a:rPr lang="en-US" sz="1800" u="sng" dirty="0">
                <a:solidFill>
                  <a:srgbClr val="0000FF"/>
                </a:solidFill>
                <a:latin typeface="Times New Roman" panose="02020603050405020304" pitchFamily="18" charset="0"/>
                <a:ea typeface="Times New Roman" panose="02020603050405020304" pitchFamily="18" charset="0"/>
              </a:rPr>
              <a:t>htm</a:t>
            </a:r>
            <a:r>
              <a:rPr lang="en-US" sz="1800" spc="-50" dirty="0">
                <a:solidFill>
                  <a:srgbClr val="0000FF"/>
                </a:solidFill>
                <a:effectLst/>
                <a:latin typeface="Times New Roman" panose="02020603050405020304" pitchFamily="18" charset="0"/>
                <a:ea typeface="Times New Roman" panose="02020603050405020304" pitchFamily="18" charset="0"/>
              </a:rPr>
              <a:t> </a:t>
            </a:r>
          </a:p>
          <a:p>
            <a:pPr marL="342900" marR="0" lvl="0" indent="-342900">
              <a:spcBef>
                <a:spcPts val="710"/>
              </a:spcBef>
              <a:spcAft>
                <a:spcPts val="0"/>
              </a:spcAft>
              <a:buSzPts val="1200"/>
              <a:buFont typeface="Times New Roman" panose="02020603050405020304" pitchFamily="18" charset="0"/>
              <a:buAutoNum type="arabicPeriod"/>
              <a:tabLst>
                <a:tab pos="687070" algn="l"/>
              </a:tabLst>
            </a:pP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https://en.wikipedia.org/wiki/HTML</a:t>
            </a:r>
            <a:endParaRPr lang="en-IN" sz="1800" dirty="0">
              <a:effectLst/>
              <a:latin typeface="Times New Roman" panose="02020603050405020304" pitchFamily="18" charset="0"/>
              <a:ea typeface="Times New Roman" panose="02020603050405020304" pitchFamily="18" charset="0"/>
            </a:endParaRPr>
          </a:p>
          <a:p>
            <a:pPr marL="342900" marR="0" lvl="0" indent="-342900">
              <a:spcBef>
                <a:spcPts val="685"/>
              </a:spcBef>
              <a:spcAft>
                <a:spcPts val="0"/>
              </a:spcAft>
              <a:buSzPts val="1200"/>
              <a:buFont typeface="Times New Roman" panose="02020603050405020304" pitchFamily="18" charset="0"/>
              <a:buAutoNum type="arabicPeriod"/>
              <a:tabLst>
                <a:tab pos="687070" algn="l"/>
              </a:tabLst>
            </a:pPr>
            <a:r>
              <a:rPr lang="en-US" sz="1800" u="sng" dirty="0">
                <a:solidFill>
                  <a:srgbClr val="0000FF"/>
                </a:solidFill>
                <a:effectLst/>
                <a:uFill>
                  <a:solidFill>
                    <a:srgbClr val="0000FF"/>
                  </a:solidFill>
                </a:uFill>
                <a:latin typeface="Times New Roman" panose="02020603050405020304" pitchFamily="18" charset="0"/>
                <a:ea typeface="Times New Roman" panose="02020603050405020304" pitchFamily="18" charset="0"/>
              </a:rPr>
              <a:t>https://laravel.com/docs/4.2/html</a:t>
            </a:r>
            <a:endParaRPr lang="en-IN" sz="1800" dirty="0">
              <a:effectLst/>
              <a:latin typeface="Times New Roman" panose="02020603050405020304" pitchFamily="18" charset="0"/>
              <a:ea typeface="Times New Roman" panose="02020603050405020304" pitchFamily="18" charset="0"/>
            </a:endParaRPr>
          </a:p>
          <a:p>
            <a:pPr marL="457200" lvl="0" indent="-355600" algn="l" rtl="0">
              <a:lnSpc>
                <a:spcPct val="150000"/>
              </a:lnSpc>
              <a:spcBef>
                <a:spcPts val="0"/>
              </a:spcBef>
              <a:spcAft>
                <a:spcPts val="0"/>
              </a:spcAft>
              <a:buClr>
                <a:schemeClr val="dk1"/>
              </a:buClr>
              <a:buSzPts val="2000"/>
              <a:buChar char="●"/>
            </a:pPr>
            <a:endParaRPr lang="en-IN" sz="2000" dirty="0"/>
          </a:p>
          <a:p>
            <a:pPr marL="457200" lvl="0" indent="0" algn="l" rtl="0">
              <a:lnSpc>
                <a:spcPct val="150000"/>
              </a:lnSpc>
              <a:spcBef>
                <a:spcPts val="1200"/>
              </a:spcBef>
              <a:spcAft>
                <a:spcPts val="1200"/>
              </a:spcAft>
              <a:buNone/>
            </a:pPr>
            <a:endParaRPr lang="en-IN" sz="2000" dirty="0"/>
          </a:p>
        </p:txBody>
      </p:sp>
      <p:sp>
        <p:nvSpPr>
          <p:cNvPr id="5" name="Google Shape;193;p25"/>
          <p:cNvSpPr txBox="1">
            <a:spLocks noGrp="1"/>
          </p:cNvSpPr>
          <p:nvPr/>
        </p:nvSpPr>
        <p:spPr>
          <a:xfrm>
            <a:off x="438700" y="572025"/>
            <a:ext cx="8520600" cy="5727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SzPts val="990"/>
              <a:buNone/>
            </a:pPr>
            <a:r>
              <a:rPr lang="en-US" altLang="en-GB" sz="3200" b="1" dirty="0">
                <a:solidFill>
                  <a:srgbClr val="00304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References</a:t>
            </a: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8EA7DA"/>
            </a:gs>
            <a:gs pos="74000">
              <a:schemeClr val="accent1">
                <a:alpha val="44000"/>
                <a:lumMod val="14000"/>
                <a:lumOff val="86000"/>
              </a:schemeClr>
            </a:gs>
            <a:gs pos="83000">
              <a:srgbClr val="E5EBF7"/>
            </a:gs>
            <a:gs pos="100000">
              <a:srgbClr val="E5EBF7"/>
            </a:gs>
          </a:gsLst>
          <a:lin ang="5400000" scaled="1"/>
        </a:gradFill>
        <a:effectLst/>
      </p:bgPr>
    </p:bg>
    <p:spTree>
      <p:nvGrpSpPr>
        <p:cNvPr id="1" name="Shape 202"/>
        <p:cNvGrpSpPr/>
        <p:nvPr/>
      </p:nvGrpSpPr>
      <p:grpSpPr>
        <a:xfrm>
          <a:off x="0" y="0"/>
          <a:ext cx="0" cy="0"/>
          <a:chOff x="0" y="0"/>
          <a:chExt cx="0" cy="0"/>
        </a:xfrm>
      </p:grpSpPr>
      <p:sp>
        <p:nvSpPr>
          <p:cNvPr id="203" name="Google Shape;203;p26"/>
          <p:cNvSpPr/>
          <p:nvPr/>
        </p:nvSpPr>
        <p:spPr>
          <a:xfrm>
            <a:off x="8597925" y="0"/>
            <a:ext cx="546000" cy="5143500"/>
          </a:xfrm>
          <a:prstGeom prst="rect">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04" name="Google Shape;204;p26"/>
          <p:cNvSpPr/>
          <p:nvPr/>
        </p:nvSpPr>
        <p:spPr>
          <a:xfrm>
            <a:off x="0" y="-65375"/>
            <a:ext cx="9144000" cy="337800"/>
          </a:xfrm>
          <a:prstGeom prst="rect">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05" name="Google Shape;205;p26"/>
          <p:cNvSpPr/>
          <p:nvPr/>
        </p:nvSpPr>
        <p:spPr>
          <a:xfrm rot="5400000">
            <a:off x="7301625" y="131275"/>
            <a:ext cx="2048700" cy="1655400"/>
          </a:xfrm>
          <a:prstGeom prst="diagStripe">
            <a:avLst>
              <a:gd name="adj" fmla="val 50000"/>
            </a:avLst>
          </a:prstGeom>
          <a:solidFill>
            <a:srgbClr val="F7E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06" name="Google Shape;206;p26"/>
          <p:cNvSpPr/>
          <p:nvPr/>
        </p:nvSpPr>
        <p:spPr>
          <a:xfrm rot="-5400000">
            <a:off x="-77400" y="3784675"/>
            <a:ext cx="1429800" cy="1275000"/>
          </a:xfrm>
          <a:prstGeom prst="halfFrame">
            <a:avLst>
              <a:gd name="adj1" fmla="val 32433"/>
              <a:gd name="adj2" fmla="val 33333"/>
            </a:avLst>
          </a:prstGeom>
          <a:solidFill>
            <a:srgbClr val="0030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08" name="Google Shape;208;p26"/>
          <p:cNvSpPr txBox="1">
            <a:spLocks noGrp="1"/>
          </p:cNvSpPr>
          <p:nvPr>
            <p:ph type="title"/>
          </p:nvPr>
        </p:nvSpPr>
        <p:spPr>
          <a:xfrm>
            <a:off x="719100" y="1238508"/>
            <a:ext cx="7329000" cy="296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GB" sz="6600" b="1" dirty="0">
                <a:solidFill>
                  <a:srgbClr val="003046"/>
                </a:solidFill>
                <a:latin typeface="Times New Roman" panose="02020603050405020304" pitchFamily="18" charset="0"/>
                <a:cs typeface="Times New Roman" panose="02020603050405020304" pitchFamily="18" charset="0"/>
              </a:rPr>
              <a:t>Thank You</a:t>
            </a:r>
            <a:endParaRPr sz="6600" b="1" dirty="0">
              <a:solidFill>
                <a:srgbClr val="00304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418</TotalTime>
  <Words>615</Words>
  <Application>Microsoft Office PowerPoint</Application>
  <PresentationFormat>On-screen Show (16:9)</PresentationFormat>
  <Paragraphs>58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Bhagwan Arihant Institute  of Technology  </vt:lpstr>
      <vt:lpstr>Contents</vt:lpstr>
      <vt:lpstr>Abstract</vt:lpstr>
      <vt:lpstr>Company Profile</vt:lpstr>
      <vt:lpstr>Work Plan</vt:lpstr>
      <vt:lpstr>Glimpse of Project</vt:lpstr>
      <vt:lpstr>Glimpse of Project</vt:lpstr>
      <vt:lpstr>Glimpse of Project</vt:lpstr>
      <vt:lpstr>Glimpse of Project</vt:lpstr>
      <vt:lpstr>Glimpse of Project</vt:lpstr>
      <vt:lpstr>Glimpse of Project</vt:lpstr>
      <vt:lpstr>Glimpse of Project</vt:lpstr>
      <vt:lpstr>Glimpse of Project</vt:lpstr>
      <vt:lpstr>Training Summary</vt:lpstr>
      <vt:lpstr>Conclusion</vt:lpstr>
      <vt:lpstr>Future Scope</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WeScrum Kanban Board</dc:title>
  <dc:creator>KRUTIK KERIWALA</dc:creator>
  <cp:lastModifiedBy>Soham Patel</cp:lastModifiedBy>
  <cp:revision>113</cp:revision>
  <dcterms:created xsi:type="dcterms:W3CDTF">2022-02-27T12:52:00Z</dcterms:created>
  <dcterms:modified xsi:type="dcterms:W3CDTF">2022-09-30T15:02:03Z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5AF4DBD566B5473E871915C6CE9EF815</vt:lpwstr>
  </property>
  <property fmtid="{D5CDD505-2E9C-101B-9397-08002B2CF9AE}" pid="3" name="KSOProductBuildVer">
    <vt:lpwstr>1033-11.2.0.10451</vt:lpwstr>
  </property>
</Properties>
</file>